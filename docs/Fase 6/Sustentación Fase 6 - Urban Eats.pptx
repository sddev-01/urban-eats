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61" r:id="rId11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jxGSfw9VezFYG9xQZ1O87tD414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1" Type="http://schemas.openxmlformats.org/officeDocument/2006/relationships/slide" Target="slides/slide6.xml"/><Relationship Id="rId12" Type="http://customschemas.google.com/relationships/presentationmetadata" Target="metadata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latin typeface="Calibri"/>
              </a:rPr>
              <a:t>Costo total por concepto (millones COP)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Millones COP</c:v>
                </c:pt>
              </c:strCache>
            </c:strRef>
          </c:tx>
          <c:spPr>
            <a:solidFill>
              <a:srgbClr val="A42828"/>
            </a:solidFill>
          </c:spPr>
          <c:cat>
            <c:strRef>
              <c:f>Sheet1!$A$2:$A$6</c:f>
              <c:strCache>
                <c:ptCount val="5"/>
                <c:pt idx="0">
                  <c:v>Talento humano</c:v>
                </c:pt>
                <c:pt idx="1">
                  <c:v>Contingencia 10 %</c:v>
                </c:pt>
                <c:pt idx="2">
                  <c:v>Hardware</c:v>
                </c:pt>
                <c:pt idx="3">
                  <c:v>Servicios</c:v>
                </c:pt>
                <c:pt idx="4">
                  <c:v>Software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29.47</c:v>
                </c:pt>
                <c:pt idx="1">
                  <c:v>3.2</c:v>
                </c:pt>
                <c:pt idx="2">
                  <c:v>1.34</c:v>
                </c:pt>
                <c:pt idx="3">
                  <c:v>0.65</c:v>
                </c:pt>
                <c:pt idx="4">
                  <c:v>0.49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latin typeface="Calibri"/>
              </a:rPr>
              <a:t>Casos de prueba por módulo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Casos</c:v>
                </c:pt>
              </c:strCache>
            </c:strRef>
          </c:tx>
          <c:spPr>
            <a:solidFill>
              <a:srgbClr val="F7643B"/>
            </a:solidFill>
          </c:spPr>
          <c:cat>
            <c:strRef>
              <c:f>Sheet1!$A$2:$A$8</c:f>
              <c:strCache>
                <c:ptCount val="7"/>
                <c:pt idx="0">
                  <c:v>Flujo de 3 roles</c:v>
                </c:pt>
                <c:pt idx="1">
                  <c:v>Casos negativos del flujo</c:v>
                </c:pt>
                <c:pt idx="2">
                  <c:v>Python: CRUD y arranque</c:v>
                </c:pt>
                <c:pt idx="3">
                  <c:v>Python: validaciones</c:v>
                </c:pt>
                <c:pt idx="4">
                  <c:v>Python: reportes</c:v>
                </c:pt>
                <c:pt idx="5">
                  <c:v>Asistente IA</c:v>
                </c:pt>
                <c:pt idx="6">
                  <c:v>Mapa y rastreo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Presentación del proyecto. Urban Eats es un sistema de información web de domicilios nocturnos para Bogotá. Lema: comida real para quienes mueven la noche.</a:t>
            </a:r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3810000" y="514350"/>
            <a:ext cx="4573588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El equipo SCRUM N.º 5 pasó de 4 a 2 integrantes en la fase 6. Confirmar el nombre y rol del segundo integrante (Product Owner / Scrum Master) antes de la sustentación.</a:t>
            </a:r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3810000" y="514350"/>
            <a:ext cx="4573588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175214709_0_0:notes"/>
          <p:cNvSpPr txBox="1"/>
          <p:nvPr>
            <p:ph idx="1" type="body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g3d175214709_0_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1. Explicar el problema con los datos de la derecha. Énfasis: no es solo falta de comida, es falta de comida confiable y de un canal de venta para cocinas que podrían operar de noche.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2. Presentar el lema y los tres pilares. Aclarar que no es un nicho exclusivo de comida saludable: también hay antojos, pero con información y cocinas confiables.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1. Leer el objetivo y señalar sus partes medibles: plazo, número de cocinas, ciclo completo, pago, mapa y asistente.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2. Cada objetivo tiene un indicador. Relacionar cada uno con el módulo que se mostrará en la demostración.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1. Recorrer el diagrama de izquierda a derecha: el navegador solo habla con Spring Boot; Spring delega en el servicio Python la verificación de cocinas, los reportes, el asistente y las rutas. Todo es software libre; los únicos servicios externos son MercadoPago, OpenRouteService y las teselas de OpenStreetMap.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2. Cada rol solo ve y hace lo que le corresponde. Mostrar en la demostración: el cliente paga, la cocina acepta y marca listo, el repartidor toma y entrega, y el cliente ve «Entregado». Cada cambio guarda fecha y hora.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1. Cubre los ítems 5 a 10 de la lista de chequeo: el servicio arranca sin errores, CRUD completo, validaciones con try/except, estructura de carpetas y reportes con filtros. Ajustar la estructura de carpetas a la versión final del código.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2. Mostrar en vivo la pregunta por el pedido y una recomendación. Si Ollama no responde, mostrar el modo básico. El ejemplo de la diapositiva usa datos de demostración.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1. En la demostración, abrir el rastreo de un pedido en camino: se dibuja la ruta con OpenRouteService y el marcador del repartidor avanza (simulado en modo demostración).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2. Resumir la mesa simulada: enfoque gana-gana, MAAN de cada parte, zona de acuerdo entre $6,6 y $8 millones, anclaje en $7,2 M y acuerdo en $6,9 M a cambio de web adaptable en lugar de app nativa. Mencionar la alerta de licencia de la fuente.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1. El presupuesto está en el libro de Excel con fórmulas: si cambia un supuesto, todo se recalcula. El talento humano se valora a precio de mercado (Indeed, junior Bogotá) para demostrar la viabilidad económica.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Integrante 2. 26 casos documentados en el Excel del plan de pruebas, con evidencia por caso. Presentar el resumen de ejecución (pasó / falló) y las acciones de mejora aplicadas; actualizar las cifras después de ejecutar las pruebas.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Ambos integrantes. Cerrar con el valor del proyecto y los próximos pasos concretos.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9"/>
          <p:cNvSpPr txBox="1"/>
          <p:nvPr>
            <p:ph type="title"/>
          </p:nvPr>
        </p:nvSpPr>
        <p:spPr>
          <a:xfrm>
            <a:off x="476260" y="371199"/>
            <a:ext cx="6759235" cy="727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60" y="303050"/>
            <a:ext cx="855783" cy="83398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0"/>
          <p:cNvSpPr txBox="1"/>
          <p:nvPr>
            <p:ph type="ctrTitle"/>
          </p:nvPr>
        </p:nvSpPr>
        <p:spPr>
          <a:xfrm>
            <a:off x="4528853" y="2217494"/>
            <a:ext cx="4086225" cy="1122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d175214709_0_18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d175214709_0_18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d175214709_0_18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d175214709_0_1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d175214709_0_8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d175214709_0_8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d175214709_0_8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476260" y="371199"/>
            <a:ext cx="6759235" cy="727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8"/>
          <p:cNvSpPr txBox="1"/>
          <p:nvPr>
            <p:ph type="title"/>
          </p:nvPr>
        </p:nvSpPr>
        <p:spPr>
          <a:xfrm>
            <a:off x="476260" y="371199"/>
            <a:ext cx="6759235" cy="727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>
            <p:ph type="title"/>
          </p:nvPr>
        </p:nvSpPr>
        <p:spPr>
          <a:xfrm>
            <a:off x="2120400" y="2148840"/>
            <a:ext cx="100716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Sistema de Información</a:t>
            </a:r>
            <a:r>
              <a:rPr lang="en-US" sz="3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3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“Urban Eats”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21408" y="3401568"/>
            <a:ext cx="5852160" cy="1188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2200" b="0" i="1">
                <a:solidFill>
                  <a:srgbClr val="A42828"/>
                </a:solidFill>
                <a:latin typeface="Arial"/>
              </a:rPr>
              <a:t>Comida real para quienes mueven la noche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368"/>
                </a:solidFill>
                <a:latin typeface="Arial"/>
              </a:rPr>
              <a:t>Sustentación Fase 6 · Desarrollo · ADSO 228118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368"/>
                </a:solidFill>
                <a:latin typeface="Arial"/>
              </a:rPr>
              <a:t>Bogotá D. C., noviembre de 2026</a:t>
            </a:r>
          </a:p>
        </p:txBody>
      </p:sp>
      <p:pic>
        <p:nvPicPr>
          <p:cNvPr id="52" name="Picture 5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600200"/>
            <a:ext cx="2361633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>
            <p:ph type="ctrTitle"/>
          </p:nvPr>
        </p:nvSpPr>
        <p:spPr>
          <a:xfrm>
            <a:off x="4528866" y="2199244"/>
            <a:ext cx="40863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Integrantes</a:t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227648" y="3320359"/>
            <a:ext cx="1736725" cy="0"/>
          </a:xfrm>
          <a:custGeom>
            <a:rect b="b" l="l" r="r" t="t"/>
            <a:pathLst>
              <a:path extrusionOk="0" h="120000" w="1736725">
                <a:moveTo>
                  <a:pt x="0" y="0"/>
                </a:moveTo>
                <a:lnTo>
                  <a:pt x="1736203" y="0"/>
                </a:lnTo>
              </a:path>
            </a:pathLst>
          </a:custGeom>
          <a:noFill/>
          <a:ln cap="flat" cmpd="sng" w="9525">
            <a:solidFill>
              <a:srgbClr val="37A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3567300" y="3406000"/>
            <a:ext cx="5057400" cy="3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SCRUM N° 5: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Juan Camilo Vanegas Castellanos - Dev team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[Integrante 2 – por confirmar]</a:t>
            </a:r>
            <a:endParaRPr b="1" sz="1700">
              <a:solidFill>
                <a:schemeClr val="dk1"/>
              </a:solidFill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80" name="Google Shape;80;g3d17521470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Planteamiento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6309360" cy="44805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11417"/>
                </a:solidFill>
                <a:latin typeface="Calibri"/>
              </a:rPr>
              <a:t>En Bogotá, miles de trabajadores de turno nocturno y estudiantes hacen su comida principal entre las </a:t>
            </a:r>
            <a:r>
              <a:rPr sz="1900" b="1" i="0">
                <a:solidFill>
                  <a:srgbClr val="A42828"/>
                </a:solidFill>
                <a:latin typeface="Calibri"/>
              </a:rPr>
              <a:t>10 p. m. y las 6 a. m.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11417"/>
                </a:solidFill>
                <a:latin typeface="Calibri"/>
              </a:rPr>
              <a:t>A esa hora la oferta es casi solo </a:t>
            </a:r>
            <a:r>
              <a:rPr sz="1900" b="1" i="0">
                <a:solidFill>
                  <a:srgbClr val="111417"/>
                </a:solidFill>
                <a:latin typeface="Calibri"/>
              </a:rPr>
              <a:t>comida rápida o tiendas 24 horas</a:t>
            </a:r>
            <a:r>
              <a:rPr sz="1900" b="0" i="0">
                <a:solidFill>
                  <a:srgbClr val="111417"/>
                </a:solidFill>
                <a:latin typeface="Calibri"/>
              </a:rPr>
              <a:t>, y los domicilios tardan más por la escasez de repartidores después de la 1 a. m.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11417"/>
                </a:solidFill>
                <a:latin typeface="Calibri"/>
              </a:rPr>
              <a:t>No hay forma de saber si la cocina </a:t>
            </a:r>
            <a:r>
              <a:rPr sz="1900" b="1" i="0">
                <a:solidFill>
                  <a:srgbClr val="111417"/>
                </a:solidFill>
                <a:latin typeface="Calibri"/>
              </a:rPr>
              <a:t>cumple las normas sanitarias</a:t>
            </a:r>
            <a:r>
              <a:rPr sz="1900" b="0" i="0">
                <a:solidFill>
                  <a:srgbClr val="111417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A42828"/>
                </a:solidFill>
                <a:latin typeface="Calibri"/>
              </a:rPr>
              <a:t>Consecuencia: </a:t>
            </a:r>
            <a:r>
              <a:rPr sz="1900" b="0" i="0">
                <a:solidFill>
                  <a:srgbClr val="111417"/>
                </a:solidFill>
                <a:latin typeface="Calibri"/>
              </a:rPr>
              <a:t>se afecta la salud de quien trabaja de noche y las cocinas que podrían operar a esa hora se quedan sin canal de venta.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78040" y="1691640"/>
            <a:ext cx="4434840" cy="1298448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0" y="1783080"/>
            <a:ext cx="1874519" cy="11155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3000" b="1" i="0">
                <a:solidFill>
                  <a:srgbClr val="A42828"/>
                </a:solidFill>
                <a:latin typeface="Calibri"/>
              </a:rPr>
              <a:t>+36 %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1783080"/>
            <a:ext cx="2331720" cy="11155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300" b="0" i="0">
                <a:solidFill>
                  <a:srgbClr val="111417"/>
                </a:solidFill>
                <a:latin typeface="Calibri"/>
              </a:rPr>
              <a:t>pedidos de domicilio entre las 12 y las 5 a. m. en DoorDash (2023)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3172968"/>
            <a:ext cx="4434840" cy="1298448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0" y="3264408"/>
            <a:ext cx="1874519" cy="11155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3000" b="1" i="0">
                <a:solidFill>
                  <a:srgbClr val="F7643B"/>
                </a:solidFill>
                <a:latin typeface="Calibri"/>
              </a:rPr>
              <a:t>&gt;700.000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3264408"/>
            <a:ext cx="2331720" cy="11155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300" b="0" i="0">
                <a:solidFill>
                  <a:srgbClr val="111417"/>
                </a:solidFill>
                <a:latin typeface="Calibri"/>
              </a:rPr>
              <a:t>empleos en el sector BPO; Bogotá concentra el 50 %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4654296"/>
            <a:ext cx="4434840" cy="1298448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0" y="4745736"/>
            <a:ext cx="1874519" cy="11155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3000" b="1" i="0">
                <a:solidFill>
                  <a:srgbClr val="111417"/>
                </a:solidFill>
                <a:latin typeface="Calibri"/>
              </a:rPr>
              <a:t>+35 %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4745736"/>
            <a:ext cx="2331720" cy="11155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300" b="0" i="0">
                <a:solidFill>
                  <a:srgbClr val="111417"/>
                </a:solidFill>
                <a:latin typeface="Calibri"/>
              </a:rPr>
              <a:t>riesgo de obesidad abdominal en quienes trabajan de noche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91072"/>
            <a:ext cx="1106424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950" b="0" i="0">
                <a:solidFill>
                  <a:srgbClr val="5F6368"/>
                </a:solidFill>
                <a:latin typeface="Calibri"/>
              </a:rPr>
              <a:t>Fuentes: Restaurant Business (2023), DoorDash; Valora Analitik, industria BPO; IntraMed, turnos de noche y obesidad abdominal; Peñaranda et al. (2021), Arch Med Manizales 21(2): mayor consumo calórico en turno nocturno.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Identidad y propuesta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72768"/>
            <a:ext cx="11064240" cy="56692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2600" b="1" i="0">
                <a:solidFill>
                  <a:srgbClr val="A42828"/>
                </a:solidFill>
                <a:latin typeface="Calibri"/>
              </a:rPr>
              <a:t>Urban Eats: </a:t>
            </a:r>
            <a:r>
              <a:rPr sz="2600" b="1" i="0">
                <a:solidFill>
                  <a:srgbClr val="111417"/>
                </a:solidFill>
                <a:latin typeface="Calibri"/>
              </a:rPr>
              <a:t>comida real para quienes mueven la noche</a:t>
            </a:r>
            <a:r>
              <a:rPr sz="1600" b="0" i="0">
                <a:solidFill>
                  <a:srgbClr val="5F6368"/>
                </a:solidFill>
                <a:latin typeface="Calibri"/>
              </a:rPr>
              <a:t>   ·   24/7, foco 10 p. m. – 6 a. 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3547872" cy="27432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2450592"/>
            <a:ext cx="566928" cy="566928"/>
          </a:xfrm>
          <a:prstGeom prst="ellipse">
            <a:avLst/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2432304"/>
            <a:ext cx="2606040" cy="60350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900" b="1" i="0">
                <a:solidFill>
                  <a:srgbClr val="111417"/>
                </a:solidFill>
                <a:latin typeface="Calibri"/>
              </a:rPr>
              <a:t>Comida real a deshoras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500" b="0" i="0">
                <a:solidFill>
                  <a:srgbClr val="111417"/>
                </a:solidFill>
                <a:latin typeface="Calibri"/>
              </a:rPr>
              <a:t>Casera o balanceada, con sello «Balanceado», calorías y alérgenos. También antojos: las papas fritas lideran de 12 a 4 a. m. (Uber Eats) y la hamburguesa sumó 1,8 M pedidos en Rappi.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2286000"/>
            <a:ext cx="3547872" cy="27432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498848" y="2450592"/>
            <a:ext cx="566928" cy="566928"/>
          </a:xfrm>
          <a:prstGeom prst="ellipse">
            <a:avLst/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648" y="2432304"/>
            <a:ext cx="2606040" cy="60350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900" b="1" i="0">
                <a:solidFill>
                  <a:srgbClr val="111417"/>
                </a:solidFill>
                <a:latin typeface="Calibri"/>
              </a:rPr>
              <a:t>Cocinas verificadas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315468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500" b="0" i="0">
                <a:solidFill>
                  <a:srgbClr val="111417"/>
                </a:solidFill>
                <a:latin typeface="Calibri"/>
              </a:rPr>
              <a:t>Solo se publican con concepto sanitario favorable vigente, RUT, Cámara de Comercio y manipuladores certificados (Res. 2674 de 2013; trámite «Negocios Saludables, Negocios Rentables» de la SDS).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2286000"/>
            <a:ext cx="3547872" cy="27432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66175" y="2450592"/>
            <a:ext cx="566928" cy="566928"/>
          </a:xfrm>
          <a:prstGeom prst="ellipse">
            <a:avLst/>
          </a:prstGeom>
          <a:solidFill>
            <a:srgbClr val="FEC1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 i="0">
                <a:solidFill>
                  <a:srgbClr val="111417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2432304"/>
            <a:ext cx="2606040" cy="60350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900" b="1" i="0">
                <a:solidFill>
                  <a:srgbClr val="111417"/>
                </a:solidFill>
                <a:latin typeface="Calibri"/>
              </a:rPr>
              <a:t>Entrega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315468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500" b="0" i="0">
                <a:solidFill>
                  <a:srgbClr val="111417"/>
                </a:solidFill>
                <a:latin typeface="Calibri"/>
              </a:rPr>
              <a:t>Ruta y repartidor en el mapa, y un asistente con IA local que responde por el pedido a cualquier hora.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30368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Segmentos: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trabajadores de turno nocturno (BPO y centros de contacto, salud, vigilancia, logística) · estudiantes nocturnos · público de madrugada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91072"/>
            <a:ext cx="1106424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950" b="0" i="0">
                <a:solidFill>
                  <a:srgbClr val="5F6368"/>
                </a:solidFill>
                <a:latin typeface="Calibri"/>
              </a:rPr>
              <a:t>Fuentes: Small Business Trends (2024), Uber Eats Cravings Report; Portafolio (2025), Rappi Rewind; Alcaldía de Bogotá, requisitos sanitarios; El Tiempo, cocinas ocultas ilegales; MinSalud, Res. 2674 de 2013.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Objetivo general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83080"/>
            <a:ext cx="10515600" cy="25146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" y="1920240"/>
            <a:ext cx="9875520" cy="22402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2200" b="0" i="0">
                <a:solidFill>
                  <a:srgbClr val="111417"/>
                </a:solidFill>
                <a:latin typeface="Calibri"/>
              </a:rPr>
              <a:t>Desarrollar e implementar en 6 meses el sistema de información Urban Eats que conecte a trabajadores y estudiantes nocturnos de Bogotá con al menos 3 cocinas aliadas verificadas sanitariamente, gestionando el ciclo completo del pedido (cliente → cocina → repartidor) con pago en línea, seguimiento en mapa y un asistente virtual local.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61772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 meses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plazo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461772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≥ 3 cocinas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verificadas sanitariamente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61772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FEC1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 i="0">
                <a:solidFill>
                  <a:srgbClr val="111417"/>
                </a:solidFill>
                <a:latin typeface="Calibri"/>
              </a:rPr>
              <a:t>3 roles</a:t>
            </a:r>
          </a:p>
          <a:p>
            <a:pPr algn="ctr"/>
            <a:r>
              <a:rPr sz="1200" b="0" i="0">
                <a:solidFill>
                  <a:srgbClr val="111417"/>
                </a:solidFill>
                <a:latin typeface="Calibri"/>
              </a:rPr>
              <a:t>cliente → cocina → repartidor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461772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11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Pago + mapa + IA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en línea, ruta visible, asistente local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Objetivos específicos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3547872" cy="20574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56232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800" b="1" i="0">
                <a:solidFill>
                  <a:srgbClr val="111417"/>
                </a:solidFill>
                <a:latin typeface="Calibri"/>
              </a:rPr>
              <a:t>Verificación de cocinas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96312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600" b="0" i="0">
                <a:solidFill>
                  <a:srgbClr val="111417"/>
                </a:solidFill>
                <a:latin typeface="Calibri"/>
              </a:rPr>
              <a:t>Módulo Python de vinculación: 100 % de las cocinas publicadas con documentos vigentes.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691640"/>
            <a:ext cx="3547872" cy="20574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498848" y="1874520"/>
            <a:ext cx="502920" cy="502920"/>
          </a:xfrm>
          <a:prstGeom prst="ellipse">
            <a:avLst/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928" y="1856232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800" b="1" i="0">
                <a:solidFill>
                  <a:srgbClr val="111417"/>
                </a:solidFill>
                <a:latin typeface="Calibri"/>
              </a:rPr>
              <a:t>Ciclo del pedido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496312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600" b="0" i="0">
                <a:solidFill>
                  <a:srgbClr val="111417"/>
                </a:solidFill>
                <a:latin typeface="Calibri"/>
              </a:rPr>
              <a:t>6 estados: Solicitado, En preparación, Listo para envío, En camino, Entregado y Cancelado, con la hora de cada cambio.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691640"/>
            <a:ext cx="3547872" cy="20574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266175" y="1874520"/>
            <a:ext cx="502920" cy="502920"/>
          </a:xfrm>
          <a:prstGeom prst="ellipse">
            <a:avLst/>
          </a:prstGeom>
          <a:solidFill>
            <a:srgbClr val="FEC1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111417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6256" y="1856232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800" b="1" i="0">
                <a:solidFill>
                  <a:srgbClr val="111417"/>
                </a:solidFill>
                <a:latin typeface="Calibri"/>
              </a:rPr>
              <a:t>Pago en línea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496312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600" b="0" i="0">
                <a:solidFill>
                  <a:srgbClr val="111417"/>
                </a:solidFill>
                <a:latin typeface="Calibri"/>
              </a:rPr>
              <a:t>MercadoPago en modo prueba: ningún pedido llega a la cocina sin pago aprobado.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9352"/>
            <a:ext cx="3547872" cy="20574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31520" y="4142232"/>
            <a:ext cx="502920" cy="502920"/>
          </a:xfrm>
          <a:prstGeom prst="ellipse">
            <a:avLst/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23944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800" b="1" i="0">
                <a:solidFill>
                  <a:srgbClr val="111417"/>
                </a:solidFill>
                <a:latin typeface="Calibri"/>
              </a:rPr>
              <a:t>Ruta en mapa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64024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600" b="0" i="0">
                <a:solidFill>
                  <a:srgbClr val="111417"/>
                </a:solidFill>
                <a:latin typeface="Calibri"/>
              </a:rPr>
              <a:t>Ruta visible para el 100 % de los pedidos en camino.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3959352"/>
            <a:ext cx="3547872" cy="20574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498848" y="4142232"/>
            <a:ext cx="502920" cy="502920"/>
          </a:xfrm>
          <a:prstGeom prst="ellipse">
            <a:avLst/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4123944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800" b="1" i="0">
                <a:solidFill>
                  <a:srgbClr val="111417"/>
                </a:solidFill>
                <a:latin typeface="Calibri"/>
              </a:rPr>
              <a:t>Asistente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764024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600" b="0" i="0">
                <a:solidFill>
                  <a:srgbClr val="111417"/>
                </a:solidFill>
                <a:latin typeface="Calibri"/>
              </a:rPr>
              <a:t>IA con Ollama, sin costo por uso.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3959352"/>
            <a:ext cx="3547872" cy="20574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266175" y="4142232"/>
            <a:ext cx="502920" cy="502920"/>
          </a:xfrm>
          <a:prstGeom prst="ellipse">
            <a:avLst/>
          </a:prstGeom>
          <a:solidFill>
            <a:srgbClr val="FEC1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111417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4123944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800" b="1" i="0">
                <a:solidFill>
                  <a:srgbClr val="111417"/>
                </a:solidFill>
                <a:latin typeface="Calibri"/>
              </a:rPr>
              <a:t>Reportes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4764024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600" b="0" i="0">
                <a:solidFill>
                  <a:srgbClr val="111417"/>
                </a:solidFill>
                <a:latin typeface="Calibri"/>
              </a:rPr>
              <a:t>Consultas filtrables y exportables a Excel y PDF.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246120"/>
            <a:ext cx="1783080" cy="100584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111417"/>
                </a:solidFill>
                <a:latin typeface="Calibri"/>
              </a:rPr>
              <a:t>Navegador</a:t>
            </a:r>
          </a:p>
          <a:p>
            <a:pPr algn="ctr"/>
            <a:r>
              <a:rPr sz="1200" b="0" i="0">
                <a:solidFill>
                  <a:srgbClr val="111417"/>
                </a:solidFill>
                <a:latin typeface="Calibri"/>
              </a:rPr>
              <a:t>Thymeleaf + Leaflet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3108960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Spring Boot :8080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Java 21 · pedidos, roles, pagos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3108960"/>
            <a:ext cx="2423160" cy="1280160"/>
          </a:xfrm>
          <a:prstGeom prst="roundRect">
            <a:avLst>
              <a:gd name="adj" fmla="val 8000"/>
            </a:avLst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Servicio Python :8000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FastAPI · verificación, reportes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98348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11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MariaDB 10.4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base de datos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91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EC1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111417"/>
                </a:solidFill>
                <a:latin typeface="Calibri"/>
              </a:rPr>
              <a:t>Ollama :11434</a:t>
            </a:r>
          </a:p>
          <a:p>
            <a:pPr algn="ctr"/>
            <a:r>
              <a:rPr sz="1200" b="0" i="0">
                <a:solidFill>
                  <a:srgbClr val="111417"/>
                </a:solidFill>
                <a:latin typeface="Calibri"/>
              </a:rPr>
              <a:t>modelo qwen3:4b 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32918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111417"/>
                </a:solidFill>
                <a:latin typeface="Calibri"/>
              </a:rPr>
              <a:t>OpenRouteService</a:t>
            </a:r>
          </a:p>
          <a:p>
            <a:pPr algn="ctr"/>
            <a:r>
              <a:rPr sz="1200" b="0" i="0">
                <a:solidFill>
                  <a:srgbClr val="111417"/>
                </a:solidFill>
                <a:latin typeface="Calibri"/>
              </a:rPr>
              <a:t>rutas · 2.000/día 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111417"/>
                </a:solidFill>
                <a:latin typeface="Calibri"/>
              </a:rPr>
              <a:t>MercadoPago</a:t>
            </a:r>
          </a:p>
          <a:p>
            <a:pPr algn="ctr"/>
            <a:r>
              <a:rPr sz="1200" b="0" i="0">
                <a:solidFill>
                  <a:srgbClr val="111417"/>
                </a:solidFill>
                <a:latin typeface="Calibri"/>
              </a:rPr>
              <a:t>pasarela en modo prueba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111417"/>
                </a:solidFill>
                <a:latin typeface="Calibri"/>
              </a:rPr>
              <a:t>OpenStreetMap</a:t>
            </a:r>
          </a:p>
          <a:p>
            <a:pPr algn="ctr"/>
            <a:r>
              <a:rPr sz="1200" b="0" i="0">
                <a:solidFill>
                  <a:srgbClr val="111417"/>
                </a:solidFill>
                <a:latin typeface="Calibri"/>
              </a:rPr>
              <a:t>teselas del mapa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3749039"/>
            <a:ext cx="548640" cy="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74920" y="3749039"/>
            <a:ext cx="594360" cy="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37760" y="3822191"/>
            <a:ext cx="86868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/>
            <a:r>
              <a:rPr sz="1000" b="0" i="0">
                <a:solidFill>
                  <a:srgbClr val="5F6368"/>
                </a:solidFill>
                <a:latin typeface="Calibri"/>
              </a:rPr>
              <a:t>HTTP/JSON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4389120"/>
            <a:ext cx="822960" cy="59436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126480" y="4389120"/>
            <a:ext cx="731520" cy="59436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092440" y="2286000"/>
            <a:ext cx="731520" cy="114300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2440" y="3749039"/>
            <a:ext cx="731520" cy="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931920" y="2606040"/>
            <a:ext cx="0" cy="50292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44168" y="2606040"/>
            <a:ext cx="0" cy="640080"/>
          </a:xfrm>
          <a:prstGeom prst="line">
            <a:avLst/>
          </a:prstGeom>
          <a:ln w="25400">
            <a:solidFill>
              <a:srgbClr val="5F63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23960" y="4800600"/>
            <a:ext cx="320040" cy="27432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17152" y="4736592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200" b="0" i="0">
                <a:solidFill>
                  <a:srgbClr val="5F6368"/>
                </a:solidFill>
                <a:latin typeface="Calibri"/>
              </a:rPr>
              <a:t>Servicio externo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5257800"/>
            <a:ext cx="320040" cy="274320"/>
          </a:xfrm>
          <a:prstGeom prst="roundRect">
            <a:avLst>
              <a:gd name="adj" fmla="val 8000"/>
            </a:avLst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17152" y="5193792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200" b="0" i="0">
                <a:solidFill>
                  <a:srgbClr val="5F6368"/>
                </a:solidFill>
                <a:latin typeface="Calibri"/>
              </a:rPr>
              <a:t>Componente propio / local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Flujo del pedido con 3 roles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11064240" cy="1207008"/>
          </a:xfrm>
          <a:prstGeom prst="roundRect">
            <a:avLst>
              <a:gd name="adj" fmla="val 5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828800" cy="1207008"/>
          </a:xfrm>
          <a:prstGeom prst="roundRect">
            <a:avLst>
              <a:gd name="adj" fmla="val 5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11064240" cy="1207008"/>
          </a:xfrm>
          <a:prstGeom prst="roundRect">
            <a:avLst>
              <a:gd name="adj" fmla="val 5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1828800" cy="1207008"/>
          </a:xfrm>
          <a:prstGeom prst="roundRect">
            <a:avLst>
              <a:gd name="adj" fmla="val 5000"/>
            </a:avLst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Cocina / gerente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89120"/>
            <a:ext cx="11064240" cy="1207008"/>
          </a:xfrm>
          <a:prstGeom prst="roundRect">
            <a:avLst>
              <a:gd name="adj" fmla="val 5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1828800" cy="1207008"/>
          </a:xfrm>
          <a:prstGeom prst="roundRect">
            <a:avLst>
              <a:gd name="adj" fmla="val 5000"/>
            </a:avLst>
          </a:prstGeom>
          <a:solidFill>
            <a:srgbClr val="FEC1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 i="0">
                <a:solidFill>
                  <a:srgbClr val="111417"/>
                </a:solidFill>
                <a:latin typeface="Calibri"/>
              </a:rPr>
              <a:t>Repartidor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883664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 w="19050">
            <a:solidFill>
              <a:srgbClr val="A4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111417"/>
                </a:solidFill>
                <a:latin typeface="Calibri"/>
              </a:rPr>
              <a:t>Pago aprobado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83664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111417"/>
                </a:solidFill>
                <a:latin typeface="Calibri"/>
              </a:rPr>
              <a:t>Solicitado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255263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111417"/>
                </a:solidFill>
                <a:latin typeface="Calibri"/>
              </a:rPr>
              <a:t>En preparación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255263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111417"/>
                </a:solidFill>
                <a:latin typeface="Calibri"/>
              </a:rPr>
              <a:t>Listo para envío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626864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111417"/>
                </a:solidFill>
                <a:latin typeface="Calibri"/>
              </a:rPr>
              <a:t>En camino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4626864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111417"/>
                </a:solidFill>
                <a:latin typeface="Calibri"/>
              </a:rPr>
              <a:t>Entregado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2249424"/>
            <a:ext cx="137160" cy="0"/>
          </a:xfrm>
          <a:prstGeom prst="line">
            <a:avLst/>
          </a:prstGeom>
          <a:ln w="25400">
            <a:solidFill>
              <a:srgbClr val="A4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3600" y="2432304"/>
            <a:ext cx="365760" cy="822960"/>
          </a:xfrm>
          <a:prstGeom prst="line">
            <a:avLst/>
          </a:prstGeom>
          <a:ln w="25400">
            <a:solidFill>
              <a:srgbClr val="A4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60" y="3621024"/>
            <a:ext cx="137160" cy="0"/>
          </a:xfrm>
          <a:prstGeom prst="line">
            <a:avLst/>
          </a:prstGeom>
          <a:ln w="25400">
            <a:solidFill>
              <a:srgbClr val="A4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13648" y="3986784"/>
            <a:ext cx="0" cy="640080"/>
          </a:xfrm>
          <a:prstGeom prst="line">
            <a:avLst/>
          </a:prstGeom>
          <a:ln w="25400">
            <a:solidFill>
              <a:srgbClr val="A4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18320" y="4992624"/>
            <a:ext cx="137160" cy="0"/>
          </a:xfrm>
          <a:prstGeom prst="line">
            <a:avLst/>
          </a:prstGeom>
          <a:ln w="25400">
            <a:solidFill>
              <a:srgbClr val="A4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32120" y="27432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100" b="0" i="0">
                <a:solidFill>
                  <a:srgbClr val="5F6368"/>
                </a:solidFill>
                <a:latin typeface="Calibri"/>
              </a:rPr>
              <a:t>acepta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11480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100" b="0" i="0">
                <a:solidFill>
                  <a:srgbClr val="5F6368"/>
                </a:solidFill>
                <a:latin typeface="Calibri"/>
              </a:rPr>
              <a:t>toma el pedido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29184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200" b="0" i="0">
                <a:solidFill>
                  <a:srgbClr val="5F6368"/>
                </a:solidFill>
                <a:latin typeface="Calibri"/>
              </a:rPr>
              <a:t>Solo llega a la cocina con pago aprobado.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663440"/>
            <a:ext cx="4937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200" b="0" i="0">
                <a:solidFill>
                  <a:srgbClr val="5F6368"/>
                </a:solidFill>
                <a:latin typeface="Calibri"/>
              </a:rPr>
              <a:t>Dos repartidores no pueden tomar el mismo pedido; solo se entrega lo que está «En camino».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810512"/>
            <a:ext cx="2011680" cy="9144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300" b="1" i="0">
                <a:solidFill>
                  <a:srgbClr val="A42828"/>
                </a:solidFill>
                <a:latin typeface="Calibri"/>
              </a:rPr>
              <a:t>Cliente ve «Entregado»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79008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11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 estados: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Solicitado → En preparación → Listo para envío → En camino → Entregado  ·  Cancelado (terminal)  ·  cada cambio registra la hora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Módulo Python: vinculación de cocinas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800" b="1" i="0">
                <a:solidFill>
                  <a:srgbClr val="A42828"/>
                </a:solidFill>
                <a:latin typeface="Calibri"/>
              </a:rPr>
              <a:t>CRUD de solicitudes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383280" cy="3200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F7643B"/>
                </a:solidFill>
                <a:latin typeface="Consolas"/>
              </a:rPr>
              <a:t>POST   </a:t>
            </a:r>
            <a:r>
              <a:rPr sz="1350" b="0" i="0">
                <a:solidFill>
                  <a:srgbClr val="111417"/>
                </a:solidFill>
                <a:latin typeface="Consolas"/>
              </a:rPr>
              <a:t>/solicitudes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F7643B"/>
                </a:solidFill>
                <a:latin typeface="Consolas"/>
              </a:rPr>
              <a:t>GET    </a:t>
            </a:r>
            <a:r>
              <a:rPr sz="1350" b="0" i="0">
                <a:solidFill>
                  <a:srgbClr val="111417"/>
                </a:solidFill>
                <a:latin typeface="Consolas"/>
              </a:rPr>
              <a:t>/solicitudes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F7643B"/>
                </a:solidFill>
                <a:latin typeface="Consolas"/>
              </a:rPr>
              <a:t>GET    </a:t>
            </a:r>
            <a:r>
              <a:rPr sz="1350" b="0" i="0">
                <a:solidFill>
                  <a:srgbClr val="111417"/>
                </a:solidFill>
                <a:latin typeface="Consolas"/>
              </a:rPr>
              <a:t>/solicitudes/{id}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F7643B"/>
                </a:solidFill>
                <a:latin typeface="Consolas"/>
              </a:rPr>
              <a:t>PUT    </a:t>
            </a:r>
            <a:r>
              <a:rPr sz="1350" b="0" i="0">
                <a:solidFill>
                  <a:srgbClr val="111417"/>
                </a:solidFill>
                <a:latin typeface="Consolas"/>
              </a:rPr>
              <a:t>/solicitudes/{id}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F7643B"/>
                </a:solidFill>
                <a:latin typeface="Consolas"/>
              </a:rPr>
              <a:t>DELETE </a:t>
            </a:r>
            <a:r>
              <a:rPr sz="1350" b="0" i="0">
                <a:solidFill>
                  <a:srgbClr val="111417"/>
                </a:solidFill>
                <a:latin typeface="Consolas"/>
              </a:rPr>
              <a:t>/solicitudes/{id}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F7643B"/>
                </a:solidFill>
                <a:latin typeface="Consolas"/>
              </a:rPr>
              <a:t>POST   </a:t>
            </a:r>
            <a:r>
              <a:rPr sz="1350" b="0" i="0">
                <a:solidFill>
                  <a:srgbClr val="111417"/>
                </a:solidFill>
                <a:latin typeface="Consolas"/>
              </a:rPr>
              <a:t>/solicitudes/{id}/aprobar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26280" y="173736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800" b="1" i="0">
                <a:solidFill>
                  <a:srgbClr val="A42828"/>
                </a:solidFill>
                <a:latin typeface="Calibri"/>
              </a:rPr>
              <a:t>Validaciones (try/except)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331720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286000"/>
            <a:ext cx="256032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300" b="0" i="0">
                <a:solidFill>
                  <a:srgbClr val="111417"/>
                </a:solidFill>
                <a:latin typeface="Calibri"/>
              </a:rPr>
              <a:t>NIT con dígito de verificación inválido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953512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907792"/>
            <a:ext cx="256032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300" b="0" i="0">
                <a:solidFill>
                  <a:srgbClr val="111417"/>
                </a:solidFill>
                <a:latin typeface="Calibri"/>
              </a:rPr>
              <a:t>NIT duplicado (IntegrityError capturado)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575304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529584"/>
            <a:ext cx="256032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300" b="0" i="0">
                <a:solidFill>
                  <a:srgbClr val="111417"/>
                </a:solidFill>
                <a:latin typeface="Calibri"/>
              </a:rPr>
              <a:t>Aprobar sin concepto sanitario vigente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4197096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151376"/>
            <a:ext cx="256032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300" b="0" i="0">
                <a:solidFill>
                  <a:srgbClr val="111417"/>
                </a:solidFill>
                <a:latin typeface="Calibri"/>
              </a:rPr>
              <a:t>Solicitud inexistente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4818888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773168"/>
            <a:ext cx="256032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300" b="0" i="0">
                <a:solidFill>
                  <a:srgbClr val="111417"/>
                </a:solidFill>
                <a:latin typeface="Calibri"/>
              </a:rPr>
              <a:t>Campos obligatorios vacíos o fechas inválidas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45920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11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21040" y="17373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800" b="1" i="0">
                <a:solidFill>
                  <a:srgbClr val="FEC10B"/>
                </a:solidFill>
                <a:latin typeface="Calibri"/>
              </a:rPr>
              <a:t>Estructura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40280"/>
            <a:ext cx="3200400" cy="32918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servicio-python/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├─ app/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│  ├─ main.py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│  ├─ models/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│  ├─ schemas/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│  ├─ routers/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│  ├─ services/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│  └─ reports/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├─ tests/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└─ requirements.txt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15000"/>
            <a:ext cx="11064240" cy="530352"/>
          </a:xfrm>
          <a:prstGeom prst="roundRect">
            <a:avLst>
              <a:gd name="adj" fmla="val 20000"/>
            </a:avLst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Reportes: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filtros por estado, localidad y fechas · ordenamiento · exportación CSV, XLSX y PDF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Asistente con IA local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120640" cy="452628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240280" y="1828800"/>
            <a:ext cx="3246120" cy="566928"/>
          </a:xfrm>
          <a:prstGeom prst="roundRect">
            <a:avLst>
              <a:gd name="adj" fmla="val 25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¿Dónde está mi pedido?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78608"/>
            <a:ext cx="393192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 i="0">
                <a:solidFill>
                  <a:srgbClr val="111417"/>
                </a:solidFill>
                <a:latin typeface="Calibri"/>
              </a:rPr>
              <a:t>Tu pedido está «En camino». Salió de la cocina a las 2:14 a. m. y llega en unos 12 minutos.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3630168"/>
            <a:ext cx="3246120" cy="868680"/>
          </a:xfrm>
          <a:prstGeom prst="roundRect">
            <a:avLst>
              <a:gd name="adj" fmla="val 25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Recomiéndame algo balanceado por menos de $25.000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81728"/>
            <a:ext cx="393192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 i="0">
                <a:solidFill>
                  <a:srgbClr val="111417"/>
                </a:solidFill>
                <a:latin typeface="Calibri"/>
              </a:rPr>
              <a:t>Pollo al horno con arroz integral: $21.900, sello Balanceado, 620 kcal, sin lácteos.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100" b="0" i="0">
                <a:solidFill>
                  <a:srgbClr val="5F6368"/>
                </a:solidFill>
                <a:latin typeface="Calibri"/>
              </a:rPr>
              <a:t>Ejemplo con datos de demostración</a:t>
            </a:r>
          </a:p>
        </p:txBody>
      </p:sp>
      <p:sp>
        <p:nvSpPr>
          <p:cNvPr id="9" name="Oval 8"/>
          <p:cNvSpPr/>
          <p:nvPr/>
        </p:nvSpPr>
        <p:spPr>
          <a:xfrm>
            <a:off x="5989320" y="1783080"/>
            <a:ext cx="548640" cy="548640"/>
          </a:xfrm>
          <a:prstGeom prst="ellipse">
            <a:avLst/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91640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800" b="1" i="0">
                <a:solidFill>
                  <a:srgbClr val="111417"/>
                </a:solidFill>
                <a:latin typeface="Calibri"/>
              </a:rPr>
              <a:t>Local y sin costo por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48840"/>
            <a:ext cx="489204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400" b="0" i="0">
                <a:solidFill>
                  <a:srgbClr val="111417"/>
                </a:solidFill>
                <a:latin typeface="Calibri"/>
              </a:rPr>
              <a:t>Ollama con el modelo qwen3:4b (licencia Apache 2.0). Los datos del cliente no salen del servidor (Ley 1581 de 2012).</a:t>
            </a:r>
          </a:p>
        </p:txBody>
      </p:sp>
      <p:sp>
        <p:nvSpPr>
          <p:cNvPr id="12" name="Oval 11"/>
          <p:cNvSpPr/>
          <p:nvPr/>
        </p:nvSpPr>
        <p:spPr>
          <a:xfrm>
            <a:off x="5989320" y="3264408"/>
            <a:ext cx="548640" cy="548640"/>
          </a:xfrm>
          <a:prstGeom prst="ellipse">
            <a:avLst/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17296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800" b="1" i="0">
                <a:solidFill>
                  <a:srgbClr val="111417"/>
                </a:solidFill>
                <a:latin typeface="Calibri"/>
              </a:rPr>
              <a:t>Responde con datos reales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630168"/>
            <a:ext cx="489204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400" b="0" i="0">
                <a:solidFill>
                  <a:srgbClr val="111417"/>
                </a:solidFill>
                <a:latin typeface="Calibri"/>
              </a:rPr>
              <a:t>Consulta el estado del pedido y el menú en la base de datos: no inventa platos ni precios.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4745736"/>
            <a:ext cx="548640" cy="548640"/>
          </a:xfrm>
          <a:prstGeom prst="ellipse">
            <a:avLst/>
          </a:prstGeom>
          <a:solidFill>
            <a:srgbClr val="FEC1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111417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654296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800" b="1" i="0">
                <a:solidFill>
                  <a:srgbClr val="111417"/>
                </a:solidFill>
                <a:latin typeface="Calibri"/>
              </a:rPr>
              <a:t>Modo básico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111496"/>
            <a:ext cx="489204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400" b="0" i="0">
                <a:solidFill>
                  <a:srgbClr val="111417"/>
                </a:solidFill>
                <a:latin typeface="Calibri"/>
              </a:rPr>
              <a:t>Si Ollama no está disponible, responde por reglas y nunca muestra un error al cliente.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Mapa y rastreo del domicilio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669280" cy="4526280"/>
          </a:xfrm>
          <a:prstGeom prst="roundRect">
            <a:avLst>
              <a:gd name="adj" fmla="val 3000"/>
            </a:avLst>
          </a:prstGeom>
          <a:solidFill>
            <a:srgbClr val="EC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1490472" y="1645920"/>
            <a:ext cx="0" cy="452628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32304" y="1645920"/>
            <a:ext cx="0" cy="452628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74136" y="1645920"/>
            <a:ext cx="0" cy="452628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15968" y="1645920"/>
            <a:ext cx="0" cy="452628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257800" y="1645920"/>
            <a:ext cx="0" cy="452628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2551176"/>
            <a:ext cx="566928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3456432"/>
            <a:ext cx="566928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4361688"/>
            <a:ext cx="566928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" y="5266944"/>
            <a:ext cx="566928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1143000" y="2551176"/>
            <a:ext cx="4389120" cy="2889504"/>
          </a:xfrm>
          <a:custGeom>
            <a:avLst/>
            <a:gdLst/>
            <a:ahLst/>
            <a:cxnLst/>
            <a:rect l="l" t="t" r="r" b="b"/>
            <a:pathLst>
              <a:path w="4389120" h="2889504">
                <a:moveTo>
                  <a:pt x="0" y="2889504"/>
                </a:moveTo>
                <a:lnTo>
                  <a:pt x="0" y="1810512"/>
                </a:lnTo>
                <a:lnTo>
                  <a:pt x="2203704" y="1810512"/>
                </a:lnTo>
                <a:lnTo>
                  <a:pt x="2203704" y="905256"/>
                </a:lnTo>
                <a:lnTo>
                  <a:pt x="3145536" y="905256"/>
                </a:lnTo>
                <a:lnTo>
                  <a:pt x="3145536" y="0"/>
                </a:lnTo>
                <a:lnTo>
                  <a:pt x="4389120" y="0"/>
                </a:lnTo>
              </a:path>
            </a:pathLst>
          </a:custGeom>
          <a:noFill/>
          <a:ln w="76200">
            <a:solidFill>
              <a:srgbClr val="F76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5212080"/>
            <a:ext cx="457200" cy="457200"/>
          </a:xfrm>
          <a:prstGeom prst="ellipse">
            <a:avLst/>
          </a:prstGeom>
          <a:solidFill>
            <a:srgbClr val="A4282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417320" y="5257800"/>
            <a:ext cx="14630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300" b="1" i="0">
                <a:solidFill>
                  <a:srgbClr val="111417"/>
                </a:solidFill>
                <a:latin typeface="Calibri"/>
              </a:rPr>
              <a:t>Cocina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0" y="2322576"/>
            <a:ext cx="457200" cy="457200"/>
          </a:xfrm>
          <a:prstGeom prst="ellipse">
            <a:avLst/>
          </a:prstGeom>
          <a:solidFill>
            <a:srgbClr val="11141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0" y="1874519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300" b="1" i="0">
                <a:solidFill>
                  <a:srgbClr val="111417"/>
                </a:solidFill>
                <a:latin typeface="Calibri"/>
              </a:rPr>
              <a:t>Cliente</a:t>
            </a:r>
          </a:p>
        </p:txBody>
      </p:sp>
      <p:sp>
        <p:nvSpPr>
          <p:cNvPr id="18" name="Oval 17"/>
          <p:cNvSpPr/>
          <p:nvPr/>
        </p:nvSpPr>
        <p:spPr>
          <a:xfrm>
            <a:off x="3118104" y="4133087"/>
            <a:ext cx="457200" cy="457200"/>
          </a:xfrm>
          <a:prstGeom prst="ellipse">
            <a:avLst/>
          </a:prstGeom>
          <a:solidFill>
            <a:srgbClr val="FEC10B"/>
          </a:solidFill>
          <a:ln w="25400">
            <a:solidFill>
              <a:srgbClr val="11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11880" y="4160520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300" b="1" i="0">
                <a:solidFill>
                  <a:srgbClr val="111417"/>
                </a:solidFill>
                <a:latin typeface="Calibri"/>
              </a:rPr>
              <a:t>Repartidor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1810512"/>
            <a:ext cx="237744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111417"/>
                </a:solidFill>
                <a:latin typeface="Calibri"/>
              </a:rPr>
              <a:t>2,4 km · 9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33872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000" b="0" i="0">
                <a:solidFill>
                  <a:srgbClr val="5F6368"/>
                </a:solidFill>
                <a:latin typeface="Calibri"/>
              </a:rPr>
              <a:t>Ilustración · © colaboradores de OpenStreetMap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1737360"/>
            <a:ext cx="457200" cy="457200"/>
          </a:xfrm>
          <a:prstGeom prst="ellipse">
            <a:avLst/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1673352"/>
            <a:ext cx="4434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700" b="1" i="0">
                <a:solidFill>
                  <a:srgbClr val="111417"/>
                </a:solidFill>
                <a:latin typeface="Calibri"/>
              </a:rPr>
              <a:t>Leaflet + OpenStreetMap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075688"/>
            <a:ext cx="4434840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400" b="0" i="0">
                <a:solidFill>
                  <a:srgbClr val="111417"/>
                </a:solidFill>
                <a:latin typeface="Calibri"/>
              </a:rPr>
              <a:t>Mapa libre con atribución; las teselas se cargan desde el navegador.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2852928"/>
            <a:ext cx="457200" cy="457200"/>
          </a:xfrm>
          <a:prstGeom prst="ellipse">
            <a:avLst/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788920"/>
            <a:ext cx="4434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700" b="1" i="0">
                <a:solidFill>
                  <a:srgbClr val="111417"/>
                </a:solidFill>
                <a:latin typeface="Calibri"/>
              </a:rPr>
              <a:t>Ruta con OpenRouteService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191256"/>
            <a:ext cx="4434840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400" b="0" i="0">
                <a:solidFill>
                  <a:srgbClr val="111417"/>
                </a:solidFill>
                <a:latin typeface="Calibri"/>
              </a:rPr>
              <a:t>Distancia y tiempo estimado; plan gratuito de 2.000 rutas por día.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3968496"/>
            <a:ext cx="457200" cy="457200"/>
          </a:xfrm>
          <a:prstGeom prst="ellipse">
            <a:avLst/>
          </a:prstGeom>
          <a:solidFill>
            <a:srgbClr val="FEC1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111417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904488"/>
            <a:ext cx="4434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700" b="1" i="0">
                <a:solidFill>
                  <a:srgbClr val="111417"/>
                </a:solidFill>
                <a:latin typeface="Calibri"/>
              </a:rPr>
              <a:t>Repartidor en movimiento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306824"/>
            <a:ext cx="4434840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400" b="0" i="0">
                <a:solidFill>
                  <a:srgbClr val="111417"/>
                </a:solidFill>
                <a:latin typeface="Calibri"/>
              </a:rPr>
              <a:t>El marcador avanza sobre la ruta sin recargar la página.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5084064"/>
            <a:ext cx="457200" cy="457200"/>
          </a:xfrm>
          <a:prstGeom prst="ellipse">
            <a:avLst/>
          </a:prstGeom>
          <a:solidFill>
            <a:srgbClr val="11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5020056"/>
            <a:ext cx="4434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700" b="1" i="0">
                <a:solidFill>
                  <a:srgbClr val="111417"/>
                </a:solidFill>
                <a:latin typeface="Calibri"/>
              </a:rPr>
              <a:t>Si falla el servicio de rutas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5422392"/>
            <a:ext cx="4434840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400" b="0" i="0">
                <a:solidFill>
                  <a:srgbClr val="111417"/>
                </a:solidFill>
                <a:latin typeface="Calibri"/>
              </a:rPr>
              <a:t>Se dibuja una línea recta con el aviso «Ruta aproximada».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Negociación tecnológica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576072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800" b="1" i="0">
                <a:solidFill>
                  <a:srgbClr val="111417"/>
                </a:solidFill>
                <a:latin typeface="Calibri"/>
              </a:rPr>
              <a:t>Zona de posible acuerdo (fase 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97480"/>
            <a:ext cx="5760720" cy="502920"/>
          </a:xfrm>
          <a:prstGeom prst="roundRect">
            <a:avLst>
              <a:gd name="adj" fmla="val 30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05840" y="2697480"/>
            <a:ext cx="4846320" cy="502920"/>
          </a:xfrm>
          <a:prstGeom prst="roundRect">
            <a:avLst>
              <a:gd name="adj" fmla="val 30000"/>
            </a:avLst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05256" y="28437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" y="2075688"/>
            <a:ext cx="1737360" cy="62179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/>
            <a:r>
              <a:rPr sz="1250" b="0" i="0">
                <a:solidFill>
                  <a:srgbClr val="111417"/>
                </a:solidFill>
                <a:latin typeface="Calibri"/>
              </a:rPr>
              <a:t>Reserva del equipo</a:t>
            </a:r>
          </a:p>
          <a:p>
            <a:pPr algn="ctr"/>
            <a:r>
              <a:rPr sz="1250" b="0" i="0">
                <a:solidFill>
                  <a:srgbClr val="111417"/>
                </a:solidFill>
                <a:latin typeface="Calibri"/>
              </a:rPr>
              <a:t>$6,6 M</a:t>
            </a:r>
          </a:p>
        </p:txBody>
      </p:sp>
      <p:sp>
        <p:nvSpPr>
          <p:cNvPr id="8" name="Oval 7"/>
          <p:cNvSpPr/>
          <p:nvPr/>
        </p:nvSpPr>
        <p:spPr>
          <a:xfrm>
            <a:off x="5751576" y="28437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983480" y="2075688"/>
            <a:ext cx="1737360" cy="62179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/>
            <a:r>
              <a:rPr sz="1250" b="0" i="0">
                <a:solidFill>
                  <a:srgbClr val="111417"/>
                </a:solidFill>
                <a:latin typeface="Calibri"/>
              </a:rPr>
              <a:t>Máximo del cliente</a:t>
            </a:r>
          </a:p>
          <a:p>
            <a:pPr algn="ctr"/>
            <a:r>
              <a:rPr sz="1250" b="0" i="0">
                <a:solidFill>
                  <a:srgbClr val="111417"/>
                </a:solidFill>
                <a:latin typeface="Calibri"/>
              </a:rPr>
              <a:t>$8,0 M</a:t>
            </a:r>
          </a:p>
        </p:txBody>
      </p:sp>
      <p:sp>
        <p:nvSpPr>
          <p:cNvPr id="10" name="Oval 9"/>
          <p:cNvSpPr/>
          <p:nvPr/>
        </p:nvSpPr>
        <p:spPr>
          <a:xfrm>
            <a:off x="2982250" y="28437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14154" y="3291840"/>
            <a:ext cx="1737360" cy="62179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/>
            <a:r>
              <a:rPr sz="1250" b="0" i="0">
                <a:solidFill>
                  <a:srgbClr val="5F6368"/>
                </a:solidFill>
                <a:latin typeface="Calibri"/>
              </a:rPr>
              <a:t>Anclaje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Calibri"/>
              </a:rPr>
              <a:t>$7,2 M</a:t>
            </a:r>
          </a:p>
        </p:txBody>
      </p:sp>
      <p:sp>
        <p:nvSpPr>
          <p:cNvPr id="12" name="Oval 11"/>
          <p:cNvSpPr/>
          <p:nvPr/>
        </p:nvSpPr>
        <p:spPr>
          <a:xfrm>
            <a:off x="1943753" y="2843784"/>
            <a:ext cx="201168" cy="201168"/>
          </a:xfrm>
          <a:prstGeom prst="ellipse">
            <a:avLst/>
          </a:prstGeom>
          <a:solidFill>
            <a:srgbClr val="A42828"/>
          </a:solidFill>
          <a:ln w="12700">
            <a:solidFill>
              <a:srgbClr val="11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75657" y="3291840"/>
            <a:ext cx="1737360" cy="62179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/>
            <a:r>
              <a:rPr sz="1250" b="1" i="0">
                <a:solidFill>
                  <a:srgbClr val="A42828"/>
                </a:solidFill>
                <a:latin typeface="Calibri"/>
              </a:rPr>
              <a:t>Acuerdo</a:t>
            </a:r>
          </a:p>
          <a:p>
            <a:pPr algn="ctr"/>
            <a:r>
              <a:rPr sz="1250" b="1" i="0">
                <a:solidFill>
                  <a:srgbClr val="A42828"/>
                </a:solidFill>
                <a:latin typeface="Calibri"/>
              </a:rPr>
              <a:t>$6,9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57607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600" b="1" i="0">
                <a:solidFill>
                  <a:srgbClr val="111417"/>
                </a:solidFill>
                <a:latin typeface="Calibri"/>
              </a:rPr>
              <a:t>MAAN de cada parte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5760720" cy="1645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A42828"/>
                </a:solidFill>
                <a:latin typeface="Calibri"/>
              </a:rPr>
              <a:t>Equipo: </a:t>
            </a:r>
            <a:r>
              <a:rPr sz="1350" b="0" i="0">
                <a:solidFill>
                  <a:srgbClr val="111417"/>
                </a:solidFill>
                <a:latin typeface="Calibri"/>
              </a:rPr>
              <a:t>prototipo académico con datos de prueba ofrecido a otra cocina.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F7643B"/>
                </a:solidFill>
                <a:latin typeface="Calibri"/>
              </a:rPr>
              <a:t>Cliente: </a:t>
            </a:r>
            <a:r>
              <a:rPr sz="1350" b="0" i="0">
                <a:solidFill>
                  <a:srgbClr val="111417"/>
                </a:solidFill>
                <a:latin typeface="Calibri"/>
              </a:rPr>
              <a:t>seguir vendiendo por las plataformas actuales pagando su comisión.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11417"/>
                </a:solidFill>
                <a:latin typeface="Calibri"/>
              </a:rPr>
              <a:t>Técnicas: </a:t>
            </a:r>
            <a:r>
              <a:rPr sz="1350" b="0" i="0">
                <a:solidFill>
                  <a:srgbClr val="111417"/>
                </a:solidFill>
                <a:latin typeface="Calibri"/>
              </a:rPr>
              <a:t>escucha activa, mensajes en primera persona, datos con fuente y concesiones condicionadas.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645920"/>
            <a:ext cx="5029200" cy="452628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12280" y="173736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800" b="1" i="0">
                <a:solidFill>
                  <a:srgbClr val="A42828"/>
                </a:solidFill>
                <a:latin typeface="Calibri"/>
              </a:rPr>
              <a:t>Acuerdos firmados en el acta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240280"/>
            <a:ext cx="4663440" cy="3840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11417"/>
                </a:solidFill>
                <a:latin typeface="Calibri"/>
              </a:rPr>
              <a:t>Alcance: </a:t>
            </a:r>
            <a:r>
              <a:rPr sz="1400" b="0" i="0">
                <a:solidFill>
                  <a:srgbClr val="111417"/>
                </a:solidFill>
                <a:latin typeface="Calibri"/>
              </a:rPr>
              <a:t>web adaptable a celular (sin app nativa); pagos reales en un piloto posterior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11417"/>
                </a:solidFill>
                <a:latin typeface="Calibri"/>
              </a:rPr>
              <a:t>Tiempo: </a:t>
            </a:r>
            <a:r>
              <a:rPr sz="1400" b="0" i="0">
                <a:solidFill>
                  <a:srgbClr val="111417"/>
                </a:solidFill>
                <a:latin typeface="Calibri"/>
              </a:rPr>
              <a:t>6 sprints de 1 semana, 19 oct – 29 nov 2026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11417"/>
                </a:solidFill>
                <a:latin typeface="Calibri"/>
              </a:rPr>
              <a:t>Costo: </a:t>
            </a:r>
            <a:r>
              <a:rPr sz="1400" b="0" i="0">
                <a:solidFill>
                  <a:srgbClr val="111417"/>
                </a:solidFill>
                <a:latin typeface="Calibri"/>
              </a:rPr>
              <a:t>$6,9 M · 40 % al aprobar alcance, 60 % en la demo del sprint 4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11417"/>
                </a:solidFill>
                <a:latin typeface="Calibri"/>
              </a:rPr>
              <a:t>Calidad: </a:t>
            </a:r>
            <a:r>
              <a:rPr sz="1400" b="0" i="0">
                <a:solidFill>
                  <a:srgbClr val="111417"/>
                </a:solidFill>
                <a:latin typeface="Calibri"/>
              </a:rPr>
              <a:t>100 % de los casos de prioridad alta en «Pasó»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11417"/>
                </a:solidFill>
                <a:latin typeface="Calibri"/>
              </a:rPr>
              <a:t>Licencias: </a:t>
            </a:r>
            <a:r>
              <a:rPr sz="1400" b="0" i="0">
                <a:solidFill>
                  <a:srgbClr val="111417"/>
                </a:solidFill>
                <a:latin typeface="Calibri"/>
              </a:rPr>
              <a:t>software libre; la fuente Cocogoose Pro es trial: licenciar o reemplazar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Presupuesto y cronograma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1719072"/>
            <a:ext cx="2286000" cy="5943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2700" b="1" i="0">
                <a:solidFill>
                  <a:srgbClr val="A42828"/>
                </a:solidFill>
                <a:latin typeface="Calibri"/>
              </a:rPr>
              <a:t>$35,2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04288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200" b="0" i="0">
                <a:solidFill>
                  <a:srgbClr val="111417"/>
                </a:solidFill>
                <a:latin typeface="Calibri"/>
              </a:rPr>
              <a:t>total del proyecto · 40 semanas, S1 a F6-6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29000" y="1719072"/>
            <a:ext cx="2286000" cy="5943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2700" b="1" i="0">
                <a:solidFill>
                  <a:srgbClr val="F7643B"/>
                </a:solidFill>
                <a:latin typeface="Calibri"/>
              </a:rPr>
              <a:t>$6,6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304288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200" b="0" i="0">
                <a:solidFill>
                  <a:srgbClr val="111417"/>
                </a:solidFill>
                <a:latin typeface="Calibri"/>
              </a:rPr>
              <a:t>fase 6 · 6 sprints de 1 semana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319272"/>
            <a:ext cx="2286000" cy="5943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2700" b="1" i="0">
                <a:solidFill>
                  <a:srgbClr val="B88600"/>
                </a:solidFill>
                <a:latin typeface="Calibri"/>
              </a:rPr>
              <a:t>$22.750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04487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200" b="0" i="0">
                <a:solidFill>
                  <a:srgbClr val="111417"/>
                </a:solidFill>
                <a:latin typeface="Calibri"/>
              </a:rPr>
              <a:t>tarifa por hora · salario junior + 38,35 % prestacional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24612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29000" y="3319272"/>
            <a:ext cx="2286000" cy="5943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2700" b="1" i="0">
                <a:solidFill>
                  <a:srgbClr val="111417"/>
                </a:solidFill>
                <a:latin typeface="Calibri"/>
              </a:rPr>
              <a:t>1.295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904487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/>
            <a:r>
              <a:rPr sz="1200" b="0" i="0">
                <a:solidFill>
                  <a:srgbClr val="111417"/>
                </a:solidFill>
                <a:latin typeface="Calibri"/>
              </a:rPr>
              <a:t>horas del proyecto · 240 h en la fase 6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172200" y="1600200"/>
          <a:ext cx="544068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48640" y="4983480"/>
            <a:ext cx="1737360" cy="1207008"/>
          </a:xfrm>
          <a:prstGeom prst="roundRect">
            <a:avLst>
              <a:gd name="adj" fmla="val 8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F6-1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Estabilizar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19–25 oct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04872" y="4983480"/>
            <a:ext cx="1737360" cy="1207008"/>
          </a:xfrm>
          <a:prstGeom prst="roundRect">
            <a:avLst>
              <a:gd name="adj" fmla="val 8000"/>
            </a:avLst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F6-2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Servicio Python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26 oct–1 nov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1103" y="4983480"/>
            <a:ext cx="1737360" cy="1207008"/>
          </a:xfrm>
          <a:prstGeom prst="roundRect">
            <a:avLst>
              <a:gd name="adj" fmla="val 8000"/>
            </a:avLst>
          </a:prstGeom>
          <a:solidFill>
            <a:srgbClr val="FEC1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111417"/>
                </a:solidFill>
                <a:latin typeface="Calibri"/>
              </a:rPr>
              <a:t>F6-3</a:t>
            </a:r>
          </a:p>
          <a:p>
            <a:pPr algn="ctr"/>
            <a:r>
              <a:rPr sz="1200" b="0" i="0">
                <a:solidFill>
                  <a:srgbClr val="111417"/>
                </a:solidFill>
                <a:latin typeface="Calibri"/>
              </a:rPr>
              <a:t>IA, mapa e integración</a:t>
            </a:r>
          </a:p>
          <a:p>
            <a:pPr algn="ctr"/>
            <a:r>
              <a:rPr sz="1100" b="0" i="0">
                <a:solidFill>
                  <a:srgbClr val="111417"/>
                </a:solidFill>
                <a:latin typeface="Calibri"/>
              </a:rPr>
              <a:t>2–8 nov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4983480"/>
            <a:ext cx="1737360" cy="1207008"/>
          </a:xfrm>
          <a:prstGeom prst="roundRect">
            <a:avLst>
              <a:gd name="adj" fmla="val 8000"/>
            </a:avLst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F6-4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Demostración y calidad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9–15 nov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7" y="4983480"/>
            <a:ext cx="1737360" cy="1207008"/>
          </a:xfrm>
          <a:prstGeom prst="roundRect">
            <a:avLst>
              <a:gd name="adj" fmla="val 8000"/>
            </a:avLst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F6-5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Extras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16–22 nov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799" y="4983480"/>
            <a:ext cx="1737360" cy="1207008"/>
          </a:xfrm>
          <a:prstGeom prst="roundRect">
            <a:avLst>
              <a:gd name="adj" fmla="val 8000"/>
            </a:avLst>
          </a:prstGeom>
          <a:solidFill>
            <a:srgbClr val="FEC1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 i="0">
                <a:solidFill>
                  <a:srgbClr val="111417"/>
                </a:solidFill>
                <a:latin typeface="Calibri"/>
              </a:rPr>
              <a:t>F6-6</a:t>
            </a:r>
          </a:p>
          <a:p>
            <a:pPr algn="ctr"/>
            <a:r>
              <a:rPr sz="1200" b="0" i="0">
                <a:solidFill>
                  <a:srgbClr val="111417"/>
                </a:solidFill>
                <a:latin typeface="Calibri"/>
              </a:rPr>
              <a:t>Documentar y ensayar</a:t>
            </a:r>
          </a:p>
          <a:p>
            <a:pPr algn="ctr"/>
            <a:r>
              <a:rPr sz="1100" b="0" i="0">
                <a:solidFill>
                  <a:srgbClr val="111417"/>
                </a:solidFill>
                <a:latin typeface="Calibri"/>
              </a:rPr>
              <a:t>23–29 nov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645152"/>
            <a:ext cx="544068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/>
            <a:r>
              <a:rPr sz="1200" b="0" i="0">
                <a:solidFill>
                  <a:srgbClr val="5F6368"/>
                </a:solidFill>
                <a:latin typeface="Calibri"/>
              </a:rPr>
              <a:t>≈ $1,09 M por sprint de la fase 6 (con contingencia)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Plan de pruebas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600200"/>
          <a:ext cx="603504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858000" y="1691640"/>
            <a:ext cx="1463040" cy="132588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0" y="1737360"/>
            <a:ext cx="1463040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/>
            <a:r>
              <a:rPr sz="3000" b="1" i="0">
                <a:solidFill>
                  <a:srgbClr val="A42828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2359152"/>
            <a:ext cx="1371600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/>
            <a:r>
              <a:rPr sz="1200" b="0" i="0">
                <a:solidFill>
                  <a:srgbClr val="111417"/>
                </a:solidFill>
                <a:latin typeface="Calibri"/>
              </a:rPr>
              <a:t>casos de prueba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91640"/>
            <a:ext cx="1463040" cy="132588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58200" y="1737360"/>
            <a:ext cx="1463040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/>
            <a:r>
              <a:rPr sz="3000" b="1" i="0">
                <a:solidFill>
                  <a:srgbClr val="F7643B"/>
                </a:solidFill>
                <a:latin typeface="Calibr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59152"/>
            <a:ext cx="1371600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/>
            <a:r>
              <a:rPr sz="1200" b="0" i="0">
                <a:solidFill>
                  <a:srgbClr val="111417"/>
                </a:solidFill>
                <a:latin typeface="Calibri"/>
              </a:rPr>
              <a:t>de prioridad alta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691640"/>
            <a:ext cx="1463040" cy="1325880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0" y="1737360"/>
            <a:ext cx="1463040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/>
            <a:r>
              <a:rPr sz="3000" b="1" i="0">
                <a:solidFill>
                  <a:srgbClr val="111417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2359152"/>
            <a:ext cx="1371600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/>
            <a:r>
              <a:rPr sz="1200" b="0" i="0">
                <a:solidFill>
                  <a:srgbClr val="111417"/>
                </a:solidFill>
                <a:latin typeface="Calibri"/>
              </a:rPr>
              <a:t>negativos o de resiliencia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246120"/>
            <a:ext cx="4754880" cy="2926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A42828"/>
                </a:solidFill>
                <a:latin typeface="Calibri"/>
              </a:rPr>
              <a:t>Criterio de salida: </a:t>
            </a:r>
            <a:r>
              <a:rPr sz="1400" b="0" i="0">
                <a:solidFill>
                  <a:srgbClr val="111417"/>
                </a:solidFill>
                <a:latin typeface="Calibri"/>
              </a:rPr>
              <a:t>100 % de los casos de prioridad alta en «Pasó» antes de la sustentación.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A42828"/>
                </a:solidFill>
                <a:latin typeface="Calibri"/>
              </a:rPr>
              <a:t>Evidencia: </a:t>
            </a:r>
            <a:r>
              <a:rPr sz="1400" b="0" i="0">
                <a:solidFill>
                  <a:srgbClr val="111417"/>
                </a:solidFill>
                <a:latin typeface="Calibri"/>
              </a:rPr>
              <a:t>pantallazo con fecha y hora o video corto por caso (FP-01.png…).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A42828"/>
                </a:solidFill>
                <a:latin typeface="Calibri"/>
              </a:rPr>
              <a:t>Mejora: </a:t>
            </a:r>
            <a:r>
              <a:rPr sz="1400" b="0" i="0">
                <a:solidFill>
                  <a:srgbClr val="111417"/>
                </a:solidFill>
                <a:latin typeface="Calibri"/>
              </a:rPr>
              <a:t>todo caso que falla se registra, se corrige y se vuelve a ejecutar.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A42828"/>
                </a:solidFill>
                <a:latin typeface="Calibri"/>
              </a:rPr>
              <a:t>Ejemplos: </a:t>
            </a:r>
            <a:r>
              <a:rPr sz="1400" b="0" i="0">
                <a:solidFill>
                  <a:srgbClr val="111417"/>
                </a:solidFill>
                <a:latin typeface="Calibri"/>
              </a:rPr>
              <a:t>doble toma del pedido, NIT con DV inválido (422), NIT duplicado (409), Ollama caído.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700"/>
          </a:xfrm>
        </p:spPr>
        <p:txBody>
          <a:bodyPr/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3" name="Oval 2"/>
          <p:cNvSpPr/>
          <p:nvPr/>
        </p:nvSpPr>
        <p:spPr>
          <a:xfrm>
            <a:off x="594360" y="1737360"/>
            <a:ext cx="548640" cy="548640"/>
          </a:xfrm>
          <a:prstGeom prst="ellipse">
            <a:avLst/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645920"/>
            <a:ext cx="10287000" cy="749808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508760" y="1645920"/>
            <a:ext cx="10012680" cy="74980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550" b="0" i="0">
                <a:solidFill>
                  <a:srgbClr val="111417"/>
                </a:solidFill>
                <a:latin typeface="Calibri"/>
              </a:rPr>
              <a:t>El problema es real y medible: la demanda nocturna crece y falta oferta de comida real de cocinas verificadas.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633472"/>
            <a:ext cx="548640" cy="548640"/>
          </a:xfrm>
          <a:prstGeom prst="ellipse">
            <a:avLst/>
          </a:prstGeom>
          <a:solidFill>
            <a:srgbClr val="F76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2542032"/>
            <a:ext cx="10287000" cy="749808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08760" y="2542032"/>
            <a:ext cx="10012680" cy="74980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550" b="0" i="0">
                <a:solidFill>
                  <a:srgbClr val="111417"/>
                </a:solidFill>
                <a:latin typeface="Calibri"/>
              </a:rPr>
              <a:t>Software libre e IA local mantienen en $0 el costo por uso y protegen los datos personales.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529584"/>
            <a:ext cx="548640" cy="548640"/>
          </a:xfrm>
          <a:prstGeom prst="ellipse">
            <a:avLst/>
          </a:prstGeom>
          <a:solidFill>
            <a:srgbClr val="FEC1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111417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3438144"/>
            <a:ext cx="10287000" cy="749808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508760" y="3438144"/>
            <a:ext cx="10012680" cy="74980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550" b="0" i="0">
                <a:solidFill>
                  <a:srgbClr val="111417"/>
                </a:solidFill>
                <a:latin typeface="Calibri"/>
              </a:rPr>
              <a:t>La negociación tecnológica dejó alcance, tiempo y costo acordados: 6 sprints, $6,9 M y pagos por hito.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425696"/>
            <a:ext cx="548640" cy="548640"/>
          </a:xfrm>
          <a:prstGeom prst="ellipse">
            <a:avLst/>
          </a:prstGeom>
          <a:solidFill>
            <a:srgbClr val="A4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4334256"/>
            <a:ext cx="10287000" cy="749808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508760" y="4334256"/>
            <a:ext cx="10012680" cy="74980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550" b="0" i="0">
                <a:solidFill>
                  <a:srgbClr val="111417"/>
                </a:solidFill>
                <a:latin typeface="Calibri"/>
              </a:rPr>
              <a:t>El plan de 26 pruebas y el modo demostración permiten verificar el ciclo completo cliente → cocina → repartidor.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5321807"/>
            <a:ext cx="548640" cy="548640"/>
          </a:xfrm>
          <a:prstGeom prst="ellipse">
            <a:avLst/>
          </a:prstGeom>
          <a:solidFill>
            <a:srgbClr val="11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5230368"/>
            <a:ext cx="10287000" cy="749808"/>
          </a:xfrm>
          <a:prstGeom prst="roundRect">
            <a:avLst>
              <a:gd name="adj" fmla="val 8000"/>
            </a:avLst>
          </a:prstGeom>
          <a:solidFill>
            <a:srgbClr val="F3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08760" y="5230368"/>
            <a:ext cx="10012680" cy="74980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/>
            <a:r>
              <a:rPr sz="1400" b="0" i="0">
                <a:solidFill>
                  <a:srgbClr val="111417"/>
                </a:solidFill>
                <a:latin typeface="Calibri"/>
              </a:rPr>
              <a:t>Próximos pasos: validar la demanda con 30 o más encuestas, licenciar o reemplazar Cocogoose Pro y preparar un piloto con pagos reales y seguridad social de repartidores (Ley 2466 de 2025, Decreto 0991 de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2026-03-20T23:41:17Z</dcterms:created>
  <dc:title>Sustentación Fase 6 - Urban Eats</dc:title>
  <dc:creator>Equipo Urban Eats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2026-03-20T00:00:00Z</vt:filetime>
  </property>
</Properties>
</file>